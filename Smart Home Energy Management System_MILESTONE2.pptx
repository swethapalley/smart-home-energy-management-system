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0"/>
  </p:notesMasterIdLst>
  <p:handoutMasterIdLst>
    <p:handoutMasterId r:id="rId21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20" r:id="rId12"/>
    <p:sldId id="321" r:id="rId13"/>
    <p:sldId id="322" r:id="rId14"/>
    <p:sldId id="323" r:id="rId15"/>
    <p:sldId id="324" r:id="rId16"/>
    <p:sldId id="325" r:id="rId17"/>
    <p:sldId id="326" r:id="rId18"/>
    <p:sldId id="327" r:id="rId19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102" autoAdjust="0"/>
    <p:restoredTop sz="95388" autoAdjust="0"/>
  </p:normalViewPr>
  <p:slideViewPr>
    <p:cSldViewPr snapToGrid="0" snapToObjects="1">
      <p:cViewPr varScale="1">
        <p:scale>
          <a:sx n="74" d="100"/>
          <a:sy n="74" d="100"/>
        </p:scale>
        <p:origin x="72" y="163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Smart Home Energy Management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D12CAD-BF5D-70CA-0E79-B11FDFC207CB}"/>
              </a:ext>
            </a:extLst>
          </p:cNvPr>
          <p:cNvSpPr txBox="1"/>
          <p:nvPr/>
        </p:nvSpPr>
        <p:spPr>
          <a:xfrm>
            <a:off x="7826477" y="5053781"/>
            <a:ext cx="3991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SWETHA PALLEY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IN" dirty="0"/>
              <a:t>What is SHEMS?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D386796-C49A-8100-D038-9E0EE90C55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4400" y="2884380"/>
            <a:ext cx="6410848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modern, technology-driven solution designed to efficiently monitor, control, and optimize electrical energy consumption within a smart home.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Capabilities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Tracks real-time energy usage.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energy wastage and improves convenience.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network-connected devices, automation rules, and analytics.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60" y="250979"/>
            <a:ext cx="6240026" cy="1621287"/>
          </a:xfrm>
        </p:spPr>
        <p:txBody>
          <a:bodyPr/>
          <a:lstStyle/>
          <a:p>
            <a:r>
              <a:rPr lang="en-IN" dirty="0"/>
              <a:t>Proposed Solution</a:t>
            </a:r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E2B950B-BF13-71F7-F2D1-427E7305D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868" y="1582340"/>
            <a:ext cx="8542851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of the Proposed System: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Control: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Unified management of all smart devices.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Live tracking of energy consumption.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Scheduling: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Automatic device control based on preset schedules.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Analytics Dashboard: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Visual insights into consumption patterns.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Security: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Secured access using Authentication and Role-Based Authorization.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626" y="795921"/>
            <a:ext cx="9806219" cy="649421"/>
          </a:xfrm>
        </p:spPr>
        <p:txBody>
          <a:bodyPr/>
          <a:lstStyle/>
          <a:p>
            <a:r>
              <a:rPr lang="en-IN" sz="3200" dirty="0"/>
              <a:t>System Configuration (Tech Stack)</a:t>
            </a:r>
            <a:endParaRPr lang="en-US" sz="32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716250B-DE93-18EF-2009-5D981F9CDC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4400" y="1658537"/>
            <a:ext cx="7887956" cy="5217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Technologies: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Java 21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Frameworks: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Spring Boot, Spring MVC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Spring Security (JWT Authorization)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ORM: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Hibernate/JPA (No manual SQL queries)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RESTful Web Services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Technologies: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HTML5 &amp; 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CSS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ReactJS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&amp; Tools: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MySQL Database &amp; MySQL Workbench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IntelliJ IDEA Community Edition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Postman (API Testing) &amp; GitHub (Version Control)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991" y="5222"/>
            <a:ext cx="7965461" cy="994164"/>
          </a:xfrm>
        </p:spPr>
        <p:txBody>
          <a:bodyPr/>
          <a:lstStyle/>
          <a:p>
            <a:r>
              <a:rPr lang="en-IN" dirty="0"/>
              <a:t>Project Modules</a:t>
            </a: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87F51C3-FA7A-A272-ED32-02B26EDDEB23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744757" y="1322777"/>
            <a:ext cx="7965461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Authentication &amp; Role Management: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Secure login, registration, and role-based access.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Smart Device Management: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Adding, updating, and removing devices; status control.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Real-Time Energy Tracking: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Live monitoring of energy for each device.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Analytics Dashboard: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Charts and graphs showing peak hours and consumption trends.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Automation Scheduling: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Automatic ON/OFF control based on rules.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Recommendation System: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Smart suggestions to optimize usage 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FC6CFA-89C2-677C-BEAA-AF722FF8F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76" y="777977"/>
            <a:ext cx="3530723" cy="470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116" y="-567166"/>
            <a:ext cx="8016297" cy="2520217"/>
          </a:xfrm>
        </p:spPr>
        <p:txBody>
          <a:bodyPr/>
          <a:lstStyle/>
          <a:p>
            <a:r>
              <a:rPr lang="en-IN" sz="2800" dirty="0"/>
              <a:t>Module 1 - Authentication &amp; Role Management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39702AC-6C46-45AA-67AC-053BF9F973B9}"/>
              </a:ext>
            </a:extLst>
          </p:cNvPr>
          <p:cNvSpPr>
            <a:spLocks noGrp="1" noChangeArrowheads="1"/>
          </p:cNvSpPr>
          <p:nvPr>
            <p:ph idx="11"/>
          </p:nvPr>
        </p:nvSpPr>
        <p:spPr bwMode="auto">
          <a:xfrm>
            <a:off x="3578942" y="1953051"/>
            <a:ext cx="766270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Objective: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To provide a secure entry point for the application using encryption and token-based authorization.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Key Activities: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User Registration &amp; Login.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Password Encryption.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JWT (JSON Web Token) generation and validation.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Role-based screen access (Admin vs. User).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29" y="223442"/>
            <a:ext cx="8359171" cy="1222385"/>
          </a:xfrm>
        </p:spPr>
        <p:txBody>
          <a:bodyPr/>
          <a:lstStyle/>
          <a:p>
            <a:r>
              <a:rPr lang="fr-FR" dirty="0"/>
              <a:t>Module 1 - </a:t>
            </a:r>
            <a:r>
              <a:rPr lang="fr-FR" dirty="0" err="1"/>
              <a:t>Technical</a:t>
            </a:r>
            <a:r>
              <a:rPr lang="fr-FR" dirty="0"/>
              <a:t> </a:t>
            </a:r>
            <a:r>
              <a:rPr lang="fr-FR" dirty="0" err="1"/>
              <a:t>Implementation</a:t>
            </a:r>
            <a:r>
              <a:rPr lang="fr-FR" dirty="0"/>
              <a:t> (Classes)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FD42CD7-41CB-003A-6F37-E956D6DA4E6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9055510" y="619432"/>
            <a:ext cx="3057832" cy="6017342"/>
          </a:xfr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679AAFA6-4383-AAFD-1F9D-9308136F8262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51692" y="1026464"/>
            <a:ext cx="8170008" cy="6273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User (Entity Class):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Stores user profile details (username, password, name).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Contains role information used for authorization.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AuthController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Exposes REST APIs for login and registration.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Acts as the bridge between the Frontend and the Backend Service layer.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AuthService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Handles core business logic.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Validates login credentials and encrypts passwords.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Generates and validates JWT tokens.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UserRepository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Communicates directly with the MySQL database using JPA.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Methods include finding users by username and saving records.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7A2E9-466D-0B8D-ABE3-58943B9EE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2 - </a:t>
            </a:r>
            <a:r>
              <a:rPr lang="en-IN" sz="2800" dirty="0"/>
              <a:t>Smart Device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AB37D6-8BD4-5EC5-7FC7-F8FE43E411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A832466-817E-7DF5-07D6-B9D279E359D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550563" y="2383185"/>
            <a:ext cx="8807874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Primary Goal: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To digitize physical appliances into manageable software entities.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Key Features: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Device Registration: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Users can add devices (e.g., "Living Room AC").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Status Toggling: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Switch devices ON or OFF remotely.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Attribute Management: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Update power ratings (Wattage) and location.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Inventory List: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View all connected devices in a grid layout.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728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7DEF1-DA80-E240-9A74-143CED955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2 - Workflow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533A57-B6B0-52A5-FB07-E5F823A49B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14207" y="2331791"/>
            <a:ext cx="9127419" cy="372181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Scenario:</a:t>
            </a:r>
            <a:r>
              <a:rPr lang="en-US" dirty="0"/>
              <a:t> User adds a new device.</a:t>
            </a:r>
          </a:p>
          <a:p>
            <a:r>
              <a:rPr lang="en-US" b="1" dirty="0"/>
              <a:t>Start:</a:t>
            </a:r>
            <a:r>
              <a:rPr lang="en-US" dirty="0"/>
              <a:t> User clicks "Add Device" on Dashboard.</a:t>
            </a:r>
          </a:p>
          <a:p>
            <a:r>
              <a:rPr lang="en-US" b="1" dirty="0"/>
              <a:t>Input:</a:t>
            </a:r>
            <a:r>
              <a:rPr lang="en-US" dirty="0"/>
              <a:t> User enters Details (Name: "Fan", Watts: "75W", Room: "Bedroom").</a:t>
            </a:r>
          </a:p>
          <a:p>
            <a:r>
              <a:rPr lang="en-US" b="1" dirty="0"/>
              <a:t>Validation:</a:t>
            </a:r>
            <a:r>
              <a:rPr lang="en-US" dirty="0"/>
              <a:t> Frontend checks for empty fields; Backend checks if device limit is reached.</a:t>
            </a:r>
          </a:p>
          <a:p>
            <a:r>
              <a:rPr lang="en-US" b="1" dirty="0"/>
              <a:t>Processing:</a:t>
            </a:r>
            <a:r>
              <a:rPr lang="en-US" dirty="0"/>
              <a:t> </a:t>
            </a:r>
            <a:r>
              <a:rPr lang="en-US" dirty="0" err="1"/>
              <a:t>DeviceService</a:t>
            </a:r>
            <a:r>
              <a:rPr lang="en-US" dirty="0"/>
              <a:t> maps the device to the current User ID.</a:t>
            </a:r>
          </a:p>
          <a:p>
            <a:r>
              <a:rPr lang="en-US" b="1" dirty="0"/>
              <a:t>Database:</a:t>
            </a:r>
            <a:r>
              <a:rPr lang="en-US" dirty="0"/>
              <a:t> </a:t>
            </a:r>
            <a:r>
              <a:rPr lang="en-US" dirty="0" err="1"/>
              <a:t>DeviceRepository</a:t>
            </a:r>
            <a:r>
              <a:rPr lang="en-US" dirty="0"/>
              <a:t> saves the entry to the DEVICES table.</a:t>
            </a:r>
          </a:p>
          <a:p>
            <a:r>
              <a:rPr lang="en-US" b="1" dirty="0"/>
              <a:t>End:</a:t>
            </a:r>
            <a:r>
              <a:rPr lang="en-US" dirty="0"/>
              <a:t> Device appears on the User Dashboard.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6C2A11-76DF-CDE1-1F1C-F3F6BEFF4F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265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69125-3B06-8945-0ECF-9391F3B05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Module 2 - </a:t>
            </a:r>
            <a:r>
              <a:rPr lang="fr-FR" dirty="0" err="1"/>
              <a:t>Technical</a:t>
            </a:r>
            <a:r>
              <a:rPr lang="fr-FR" dirty="0"/>
              <a:t> </a:t>
            </a:r>
            <a:r>
              <a:rPr lang="fr-FR" dirty="0" err="1"/>
              <a:t>Implementation</a:t>
            </a:r>
            <a:r>
              <a:rPr lang="fr-FR" dirty="0"/>
              <a:t> (Classes)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D37DD3-6DEB-83C1-8B2B-2155E6A101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14690" y="2331791"/>
            <a:ext cx="8776329" cy="3721817"/>
          </a:xfrm>
        </p:spPr>
        <p:txBody>
          <a:bodyPr/>
          <a:lstStyle/>
          <a:p>
            <a:r>
              <a:rPr lang="en-US" dirty="0"/>
              <a:t>The module consists of four primary classes:</a:t>
            </a:r>
          </a:p>
          <a:p>
            <a:pPr lvl="1"/>
            <a:r>
              <a:rPr lang="en-US" b="1" dirty="0"/>
              <a:t>Device (Model):</a:t>
            </a:r>
            <a:r>
              <a:rPr lang="en-US" dirty="0"/>
              <a:t> Represents the data structure/entity.</a:t>
            </a:r>
          </a:p>
          <a:p>
            <a:pPr lvl="1"/>
            <a:r>
              <a:rPr lang="en-US" b="1" dirty="0" err="1"/>
              <a:t>DeviceController</a:t>
            </a:r>
            <a:r>
              <a:rPr lang="en-US" b="1" dirty="0"/>
              <a:t>:</a:t>
            </a:r>
            <a:r>
              <a:rPr lang="en-US" dirty="0"/>
              <a:t> The API entry point.</a:t>
            </a:r>
          </a:p>
          <a:p>
            <a:pPr lvl="1"/>
            <a:r>
              <a:rPr lang="en-US" b="1" dirty="0" err="1"/>
              <a:t>DeviceService</a:t>
            </a:r>
            <a:r>
              <a:rPr lang="en-US" b="1" dirty="0"/>
              <a:t>:</a:t>
            </a:r>
            <a:r>
              <a:rPr lang="en-US" dirty="0"/>
              <a:t> The logic layer.</a:t>
            </a:r>
          </a:p>
          <a:p>
            <a:pPr lvl="1"/>
            <a:r>
              <a:rPr lang="en-US" b="1" dirty="0" err="1"/>
              <a:t>DeviceRepository</a:t>
            </a:r>
            <a:r>
              <a:rPr lang="en-US" b="1" dirty="0"/>
              <a:t>:</a:t>
            </a:r>
            <a:r>
              <a:rPr lang="en-US" dirty="0"/>
              <a:t> The database interface.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0FE724-461C-E679-ED7A-70E8619EB9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393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40A2B-4DBF-7F35-B893-1F6456B6A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576" y="1598568"/>
            <a:ext cx="9879437" cy="980844"/>
          </a:xfrm>
        </p:spPr>
        <p:txBody>
          <a:bodyPr/>
          <a:lstStyle/>
          <a:p>
            <a:r>
              <a:rPr lang="en-US" altLang="en-US" cap="none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  <a:t>Class:</a:t>
            </a:r>
            <a:r>
              <a:rPr lang="en-US" altLang="en-US" b="0" cap="none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b="0" cap="none" dirty="0">
                <a:solidFill>
                  <a:schemeClr val="accent6">
                    <a:lumMod val="75000"/>
                  </a:schemeClr>
                </a:solidFill>
                <a:latin typeface="Arial Unicode MS"/>
              </a:rPr>
              <a:t>Device</a:t>
            </a:r>
            <a:br>
              <a:rPr lang="en-US" altLang="en-US" b="0" cap="none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079652-14F2-7F08-4047-D7EF4ED9C5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B977557-431F-1D28-5612-968FFF82301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550988" y="2761426"/>
            <a:ext cx="790764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Attributes: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Long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deviceId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 (Unique Identifier)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String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deviceName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 (e.g., "Smart Bulb 1")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String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deviceType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 (Categorization)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String status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 (Current state)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String location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 (Physical placement)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String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ipAddress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 (Network ID)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String config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 (Settings)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951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C3FD1-B04B-E6C3-4D55-B3175EBBC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DEVICE CONTROLLER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5B2670-91B8-216E-F56F-101813966C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DB1E365-83EA-474E-DA85-AFC042C4C31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681316" y="2299874"/>
            <a:ext cx="1041750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Class: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DeviceController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Role: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The API Layer (REST Controller).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Responsibilities: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Exposes endpoints to the frontend.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Receives user requests.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Does not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have a database 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Key Endpoints: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addDevice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 – To register a new appliance.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toggleDevice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 – To switch an appliance ON or OFF.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547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036CF-44B3-4400-6ADC-AF76968AD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DEVICE SERVICE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FC6AE7-D280-6F31-A7EF-539E0B4227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AC7337C-9EFA-4B2A-9084-19301A99749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550564" y="2299874"/>
            <a:ext cx="1144093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Class: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DeviceService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Role: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The Service Layer.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Responsibilities: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Contains business logic and rules.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Acts as a bridge between the Controller and Repository.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Does not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have a database 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Key Methods: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addDevice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()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updateStatus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 Unicode MS"/>
              </a:rPr>
              <a:t>()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5564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6977C-C2D3-4053-793B-DC528163B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DEVICEREPOSITRY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CD1EE2-97B8-0FE5-9022-0C25E080AB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3E97421-0BA9-1E95-1E00-55ED10EEA78D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550563" y="2484539"/>
            <a:ext cx="744595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Class: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 Unicode MS"/>
              </a:rPr>
              <a:t>DeviceRepository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Role: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Data Access Object (DAO).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Responsibilities: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Performs SQL operations on the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 Unicode MS"/>
              </a:rPr>
              <a:t>devices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</a:rPr>
              <a:t> table.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Abstracts the database connection.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Key Methods: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 Unicode MS"/>
              </a:rPr>
              <a:t>save(Device)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</a:rPr>
              <a:t> – Inserts or updates a record.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 Unicode MS"/>
              </a:rPr>
              <a:t>findAll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 Unicode MS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</a:rPr>
              <a:t> – Retrieves all device records.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9068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CE461-4427-AE11-BC32-E23B16748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Outputs &amp; Deliverables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AF5F86-7EC4-5B84-7B2F-CD491DCF9D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0F25234-6240-CAC1-D6B1-956319FF7CD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211283" y="2167801"/>
            <a:ext cx="1017898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Outputs: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device status updates (e.g., notifying the dashboard when a light turns 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comprehensive device list for the frontend dashboard.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Module 2 successfully establishes the backend infrastructure to track and control smart home assets, serving as the foundation for the Energy Management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32440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{D1EA55A7-3231-41BA-B18A-79653673CA37}tf78438558_win32</Template>
  <TotalTime>427</TotalTime>
  <Words>901</Words>
  <Application>Microsoft Office PowerPoint</Application>
  <PresentationFormat>Widescreen</PresentationFormat>
  <Paragraphs>137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Black</vt:lpstr>
      <vt:lpstr>Arial Unicode MS</vt:lpstr>
      <vt:lpstr>Calibri</vt:lpstr>
      <vt:lpstr>Sabon Next LT</vt:lpstr>
      <vt:lpstr>Times New Roman</vt:lpstr>
      <vt:lpstr>Custom</vt:lpstr>
      <vt:lpstr>Smart Home Energy Management System</vt:lpstr>
      <vt:lpstr>What is SHEMS?</vt:lpstr>
      <vt:lpstr>Proposed Solution</vt:lpstr>
      <vt:lpstr>System Configuration (Tech Stack)</vt:lpstr>
      <vt:lpstr>Project Modules</vt:lpstr>
      <vt:lpstr>Module 1 - Authentication &amp; Role Management</vt:lpstr>
      <vt:lpstr>Module 1 - Technical Implementation (Classes)</vt:lpstr>
      <vt:lpstr>MODULE 2 - Smart Device Management</vt:lpstr>
      <vt:lpstr>Module 2 - Workflow</vt:lpstr>
      <vt:lpstr>Module 2 - Technical Implementation (Classes)</vt:lpstr>
      <vt:lpstr>Class: Device </vt:lpstr>
      <vt:lpstr> DEVICE CONTROLLER</vt:lpstr>
      <vt:lpstr>DEVICE SERVICE</vt:lpstr>
      <vt:lpstr>DEVICEREPOSITRY</vt:lpstr>
      <vt:lpstr>Outputs &amp; Deliverables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swetha palley</dc:creator>
  <cp:lastModifiedBy>swetha palley</cp:lastModifiedBy>
  <cp:revision>4</cp:revision>
  <dcterms:created xsi:type="dcterms:W3CDTF">2025-12-07T15:32:14Z</dcterms:created>
  <dcterms:modified xsi:type="dcterms:W3CDTF">2026-02-05T11:31:18Z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